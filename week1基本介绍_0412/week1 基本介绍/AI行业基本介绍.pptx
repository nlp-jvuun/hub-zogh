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1" r:id="rId4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813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41848" y="0"/>
            <a:ext cx="54864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0" y="502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内容涵盖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886968"/>
            <a:ext cx="54864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8869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AI基础 &amp; 研究方向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399032"/>
            <a:ext cx="54864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3990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AI发展历史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911096"/>
            <a:ext cx="54864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9110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机器学习三大支柱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423160"/>
            <a:ext cx="54864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4231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行业岗位与团队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2935224"/>
            <a:ext cx="54864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9352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大厂 vs 小厂对比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3447288"/>
            <a:ext cx="54864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4472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成为AI工程师路线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3959352"/>
            <a:ext cx="54864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9593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NLP核心与难题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4471416"/>
            <a:ext cx="54864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44714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AI Coding工具实战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9144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人工智能行业入门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548640" y="171907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E86AB"/>
                </a:solidFill>
              </a:rPr>
              <a:t>与 NLP 方向全景介绍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548640" y="2359152"/>
            <a:ext cx="438912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面向转行人士  ·  在校学生  ·  技术爱好者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29260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C4DD"/>
                </a:solidFill>
              </a:rPr>
              <a:t>从零认识 AI，找准方向，迈出第一步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C4DD"/>
                </a:solidFill>
              </a:rPr>
              <a:t>2026  ·  AI × NLP × Coding Tools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目录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本次内容概览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420624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11155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</a:rPr>
              <a:t>走进人工智能：定义与研究方向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20624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186537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</a:rPr>
              <a:t>AI发展简史：从寒冬到大爆发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420624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261518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</a:rPr>
              <a:t>机器学习三大支柱：算力、数据、算法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28416"/>
            <a:ext cx="420624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284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7824" y="33649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</a:rPr>
              <a:t>AI行业岗位与项目团队构成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78224"/>
            <a:ext cx="420624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782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41148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</a:rPr>
              <a:t>行业现状 &amp; 大厂 vs 小厂对比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420624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78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75504" y="11155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</a:rPr>
              <a:t>如何成为AI工程师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828800"/>
            <a:ext cx="420624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28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75504" y="186537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</a:rPr>
              <a:t>NLP：让机器理解人类语言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578608"/>
            <a:ext cx="420624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75504" y="261518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</a:rPr>
              <a:t>NLP的奇葩难题与歧义挑战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3328416"/>
            <a:ext cx="420624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3284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75504" y="33649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2D2D"/>
                </a:solidFill>
              </a:rPr>
              <a:t>AI Coding工具：CLI vs IDE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1024128"/>
            <a:ext cx="27432" cy="388620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Box 3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2E86AB"/>
                </a:solidFill>
              </a:rPr>
              <a:t>01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走进人工智能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AI定义 · 研究方向 · ML与DL的关系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01 · 走进人工智能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什么是人工智能？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直观定义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74980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D2D"/>
                </a:solidFill>
              </a:rPr>
              <a:t>让机器完成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2D2D"/>
                </a:solidFill>
              </a:rPr>
              <a:t>“只有人类才能做”的任务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与普通软件的本质区别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10972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78608"/>
            <a:ext cx="1024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508760" y="2578608"/>
            <a:ext cx="1207008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578608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普通软件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0" y="2578608"/>
            <a:ext cx="15544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5786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AI系统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1024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逻辑来源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508760" y="3017520"/>
            <a:ext cx="12070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017520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程序员写规则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0" y="301752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3017520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从数据中学习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109728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56432"/>
            <a:ext cx="1024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面对新情况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508760" y="3456432"/>
            <a:ext cx="1207008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456432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规则外则报错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0" y="3456432"/>
            <a:ext cx="155448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3456432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举一反三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895344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95344"/>
            <a:ext cx="10241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典型例子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508760" y="3895344"/>
            <a:ext cx="120700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3895344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计算器/Excel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0" y="389534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3895344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ChatGPT/人脸识别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1005840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02412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AI能做什么？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00600" y="1417320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看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230368" y="1453896"/>
            <a:ext cx="685800" cy="2011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14538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CV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30368" y="165506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图像识别 · 人脸检测 · 医学影像分析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00600" y="2075688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听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230368" y="2112264"/>
            <a:ext cx="685800" cy="2011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0368" y="211226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ASR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30368" y="231343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语音识别 · 降噪 · 情绪检测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00600" y="2734056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说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230368" y="2770632"/>
            <a:ext cx="685800" cy="2011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0368" y="27706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TTS/NLP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30368" y="297180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文本生成 · 机器翻译 · 对话系统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800600" y="3392424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想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230368" y="3429000"/>
            <a:ext cx="685800" cy="2011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0368" y="342900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RL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30368" y="363016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决策推荐 · 棋类博弈 · 代码生成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800600" y="4050792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动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230368" y="4087368"/>
            <a:ext cx="685800" cy="2011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30368" y="408736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Robot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30368" y="428853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机械臂控制 · 自动驾驶 · 具身智能</a:t>
            </a:r>
            <a:endParaRPr lang="en-US" sz="1150" dirty="0"/>
          </a:p>
        </p:txBody>
      </p:sp>
      <p:sp>
        <p:nvSpPr>
          <p:cNvPr id="60" name="TextBox 5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01 · 走进人工智能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AI的六大核心研究方向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724912" cy="17556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724912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795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计算机视觉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1179576"/>
            <a:ext cx="73152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1795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55448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图像分类 · 目标检测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人脸识别 · 医疗影像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2240280"/>
            <a:ext cx="2523744" cy="182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8600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例：手机解锁 / 自动驾驶摄像头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9544" y="1051560"/>
            <a:ext cx="2724912" cy="1755648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1051560"/>
            <a:ext cx="2724912" cy="914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1795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B45"/>
                </a:solidFill>
              </a:rPr>
              <a:t>自然语言处理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9784" y="1179576"/>
            <a:ext cx="731520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784" y="11795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NLP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9272" y="155448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翻译 · 对话 · 摘要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信息抽取 · 代码生成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9272" y="2240280"/>
            <a:ext cx="2523744" cy="1828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228600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例：ChatGPT / 搜索引擎 / 客服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53328" y="1051560"/>
            <a:ext cx="2724912" cy="1755648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051560"/>
            <a:ext cx="2724912" cy="914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17957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720A"/>
                </a:solidFill>
              </a:rPr>
              <a:t>语音技术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3568" y="1179576"/>
            <a:ext cx="731520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11795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ASR/TTS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63056" y="155448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语音识别 · 语音合成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声纹识别 · 语音翻译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63056" y="2240280"/>
            <a:ext cx="2523744" cy="1828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28600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例：Siri / 语音输入法 / 配音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916936"/>
            <a:ext cx="2724912" cy="1755648"/>
          </a:xfrm>
          <a:prstGeom prst="rect">
            <a:avLst/>
          </a:prstGeom>
          <a:solidFill>
            <a:srgbClr val="F5EEF8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916936"/>
            <a:ext cx="2724912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04495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</a:rPr>
              <a:t>强化学习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86000" y="3044952"/>
            <a:ext cx="73152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3044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3419856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决策序列 · 奖励反馈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游戏博弈 · 机器人控制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488" y="4105656"/>
            <a:ext cx="2523744" cy="1828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151376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例：AlphaGo / 游戏AI / 量化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9544" y="2916936"/>
            <a:ext cx="2724912" cy="175564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9544" y="2916936"/>
            <a:ext cx="2724912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9272" y="304495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推荐系统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29784" y="3044952"/>
            <a:ext cx="7315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9784" y="3044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RecSys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19272" y="3419856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协同过滤 · 内容召回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排序精排 · 实时CTR预估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319272" y="4105656"/>
            <a:ext cx="2523744" cy="182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9272" y="4151376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例：抖音推流 / 淘宝猜你喜欢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53328" y="2916936"/>
            <a:ext cx="2724912" cy="1755648"/>
          </a:xfrm>
          <a:prstGeom prst="rect">
            <a:avLst/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53328" y="2916936"/>
            <a:ext cx="2724912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63056" y="304495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多模态 &amp; 具身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973568" y="3044952"/>
            <a:ext cx="73152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30449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新兴方向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63056" y="3419856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图文融合 · 视频理解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机器人感知与行动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63056" y="4105656"/>
            <a:ext cx="2523744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3056" y="4151376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例：GPT-4o / 人形机器人</a:t>
            </a:r>
            <a:endParaRPr lang="en-US" sz="1000" dirty="0"/>
          </a:p>
        </p:txBody>
      </p:sp>
      <p:sp>
        <p:nvSpPr>
          <p:cNvPr id="53" name="TextBox 5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01 · 走进人工智能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AI、机器学习、深度学习是什么关系？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05840"/>
            <a:ext cx="4069080" cy="3840480"/>
          </a:xfrm>
          <a:prstGeom prst="ellipse">
            <a:avLst/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789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人工智能  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600200"/>
            <a:ext cx="2907792" cy="269748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733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机器学习  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53312" y="2240280"/>
            <a:ext cx="1737360" cy="1554480"/>
          </a:xfrm>
          <a:prstGeom prst="ellipse">
            <a:avLst/>
          </a:prstGeom>
          <a:solidFill>
            <a:srgbClr val="BBDE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468880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深度学习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706624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DL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051560"/>
            <a:ext cx="109728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105156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人工智能（AI）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74336" y="1362456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凡是让机器表现出智能行为的技术都属于AI。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包括：专家系统、搜索算法、知识图谱、机器学习……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1950年代就有，但直到ML崛起才真正落地。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109728" cy="10789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233172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机器学习（ML）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74336" y="2642616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AI的主流实现方式：让机器从数据中自动学习规律。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无需人工编写每一条规则。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代表：决策树、SVM、随机森林、神经网络……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611880"/>
            <a:ext cx="109728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361188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深度学习（DL）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74336" y="3922776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ML的当红子集：使用多层神经网络，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在大数据 + GPU加持下效果远超传统方法。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代表：CNN、Transformer、GPT、BERT……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01 · 走进人工智能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为什么深度学习是现在的"主角"？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670048" cy="32004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70048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75688" y="1179576"/>
            <a:ext cx="868680" cy="2377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5688" y="117957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</a:rPr>
              <a:t>大数据爆发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16459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互联网积累海量标注数据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21284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ImageNet: 1400万图片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77977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Common Crawl: PB级文本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34670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→ 模型有了充足学习材料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91256" y="1051560"/>
            <a:ext cx="2670048" cy="3200400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91256" y="1051560"/>
            <a:ext cx="2670048" cy="914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1184" y="1179576"/>
            <a:ext cx="868680" cy="23774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17957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Compute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28416" y="1188720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720A"/>
                </a:solidFill>
              </a:rPr>
              <a:t>GPU算力革命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55848" y="16459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GPU专为矩阵运算并行优化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221284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A100: 312 TFLOPS算力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55848" y="277977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训练从数年缩到数天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55848" y="334670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→ 大规模训练成为可能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16752" y="1051560"/>
            <a:ext cx="2670048" cy="320040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752" y="1051560"/>
            <a:ext cx="2670048" cy="914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1179576"/>
            <a:ext cx="868680" cy="23774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117957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3912" y="1188720"/>
            <a:ext cx="1527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7B45"/>
                </a:solidFill>
              </a:rPr>
              <a:t>算法突破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81344" y="16459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Transformer改变NLP格局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81344" y="221284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残差连接解决梯度消失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81344" y="277977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Dropout/BN正则化技巧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81344" y="334670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→ 更深的网络得以训练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三者缺一不可：数据是燃料，算力是引擎，算法是方向盘</a:t>
            </a:r>
            <a:endParaRPr lang="en-US" sz="1300" dirty="0"/>
          </a:p>
        </p:txBody>
      </p:sp>
      <p:sp>
        <p:nvSpPr>
          <p:cNvPr id="34" name="TextBox 3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2E86AB"/>
                </a:solidFill>
              </a:rPr>
              <a:t>02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AI发展简史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有起有落 · 从寒冬到爆发 · 大模型时代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02 · AI发展简史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AI七十年：跌宕起伏的发展历程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880360"/>
            <a:ext cx="841248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" y="2761488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350008"/>
            <a:ext cx="27432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2039112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1950s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" y="1417320"/>
            <a:ext cx="96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AI诞生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" y="106984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图灵测试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达特茅斯会议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45336" y="2761488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4208" y="3035808"/>
            <a:ext cx="27432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483864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1970s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07008" y="3758184"/>
            <a:ext cx="96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</a:rPr>
              <a:t>第一次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</a:rPr>
              <a:t>寒冬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07008" y="436168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算力不足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资金断供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97480" y="2761488"/>
            <a:ext cx="274320" cy="274320"/>
          </a:xfrm>
          <a:prstGeom prst="ellipse">
            <a:avLst/>
          </a:prstGeom>
          <a:solidFill>
            <a:srgbClr val="D472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16352" y="2350008"/>
            <a:ext cx="27432" cy="42062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9152" y="2039112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720A"/>
                </a:solidFill>
              </a:rPr>
              <a:t>1980s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59152" y="1417320"/>
            <a:ext cx="96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720A"/>
                </a:solidFill>
              </a:rPr>
              <a:t>专家系统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59152" y="106984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知识工程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短暂繁荣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58768" y="2761488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3035808"/>
            <a:ext cx="27432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483864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1990s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3758184"/>
            <a:ext cx="96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</a:rPr>
              <a:t>第二次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</a:rPr>
              <a:t>寒冬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20440" y="436168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规则瓶颈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行业失信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0056" y="2761488"/>
            <a:ext cx="274320" cy="274320"/>
          </a:xfrm>
          <a:prstGeom prst="ellipse">
            <a:avLst/>
          </a:prstGeom>
          <a:solidFill>
            <a:srgbClr val="217B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2350008"/>
            <a:ext cx="27432" cy="42062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2039112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2000s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1417320"/>
            <a:ext cx="96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7B45"/>
                </a:solidFill>
              </a:rPr>
              <a:t>ML复兴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81728" y="106984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SVM/RF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推荐系统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0216" y="2761488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2350008"/>
            <a:ext cx="27432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61888" y="2039112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2012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61888" y="1417320"/>
            <a:ext cx="96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深度学习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爆发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61888" y="106984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AlexNet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错误率骤降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80376" y="2761488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99248" y="2350008"/>
            <a:ext cx="27432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2039112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2017+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42048" y="1417320"/>
            <a:ext cx="969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LLM时代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42048" y="106984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GPT/BERT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Claude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</a:rPr>
              <a:t>两次寒冬均由“期望远超现实”引发——这是AI领域不断重演的规律</a:t>
            </a:r>
            <a:endParaRPr lang="en-US" sz="1100" dirty="0"/>
          </a:p>
        </p:txBody>
      </p:sp>
      <p:sp>
        <p:nvSpPr>
          <p:cNvPr id="42" name="TextBox 4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02 · AI发展简史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AI的诞生与第一次寒冬（1950s~1970s）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40233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1950s：AI的诞生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640080" cy="310896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1950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1463040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图灵测试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60704" y="1719072"/>
            <a:ext cx="3273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图灵提出"机器能思考吗"，定义智能标准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40080" cy="310896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3172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1956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2331720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达特茅斯会议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60704" y="2587752"/>
            <a:ext cx="3273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"人工智能"一词正式诞生，McCarthy等奠基人聚首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640080" cy="310896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1960s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" y="3200400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早期热潮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0704" y="3456432"/>
            <a:ext cx="3273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感知机、LISP语言，"20年内机器超越人类"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24128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24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1970s：第一次AI寒冬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14813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为什么崩了？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1847088"/>
            <a:ext cx="566928" cy="32918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84708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算力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93792" y="1883664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当时的计算机算力约为现代笔记本的百亿分之一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2532888"/>
            <a:ext cx="566928" cy="32918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53288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数据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93792" y="2569464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没有大规模标注数据，规则手写效率极低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3218688"/>
            <a:ext cx="566928" cy="32918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21868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期望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93792" y="3255264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政府和投资方期望过高，现实严重落差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0" y="3904488"/>
            <a:ext cx="566928" cy="32918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904488"/>
            <a:ext cx="566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结果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93792" y="3941064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Lighthill报告否定AI前途，各国砍研究经费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E86AB"/>
                </a:solidFill>
              </a:rPr>
              <a:t>第一次寒冬的教训：不要承诺做不到的事，技术需要时间积累</a:t>
            </a:r>
            <a:endParaRPr lang="en-US" sz="115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02 · AI发展简史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专家系统崛起与第二次寒冬（1980s~1990s）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4023360" cy="34747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1980s：专家系统时代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24128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024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1990s：第二次寒冬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什么是专家系统？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4023360" cy="594360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把人类专家的经验编写成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大量"如果...那么..."规则，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让机器模拟专家决策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475488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8716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成功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96112" y="2505456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MYCIN诊断血液病，准确率超部分专科医生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475488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80944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成功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" y="2999232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XCON配置计算机，每年节省DEC数千万美元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47548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74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问题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" y="349300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规则爆炸：知识更新慢，维护成本极高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68496"/>
            <a:ext cx="47548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68496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问题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6112" y="3986784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常识匮乏：无法处理规则之外的情况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14813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为什么又崩了？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828800"/>
            <a:ext cx="128016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82880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规则的极限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2084832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常识无法穷举，"火鸡问题"：机器不知道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火鸡没有翅膀也能打字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560320"/>
            <a:ext cx="128016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56032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维护成本爆炸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816352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专家系统需要领域专家手工维护，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规模越大越难管理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291840"/>
            <a:ext cx="128016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29184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市场幻灭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547872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Lisp机器市场崩溃，日本第五代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计算机计划失败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4023360"/>
            <a:ext cx="128016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2336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结局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4279392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1987~1993年，AI投资锐减，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"AI"一词几乎成了禁忌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0392B"/>
                </a:solidFill>
              </a:rPr>
              <a:t>第二次寒冬的教训：硬编码规则无法泛化，数据驱动才是正道</a:t>
            </a:r>
            <a:endParaRPr lang="en-US" sz="1150" dirty="0"/>
          </a:p>
        </p:txBody>
      </p:sp>
      <p:sp>
        <p:nvSpPr>
          <p:cNvPr id="39" name="TextBox 3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02 · AI发展简史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ML复兴与深度学习爆发（2000s~2012）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4069080" cy="34747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2000s：机器学习悄悄复兴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66928" cy="27432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2000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499616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SVM在文本分类上效果惊人，超越规则系统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566928" cy="27432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0312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2003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2121408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Amazon推荐系统上线，协同过滤大放异彩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566928" cy="27432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2491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2006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2743200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Hinton发表深度信念网络，点燃深度学习火苗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566928" cy="27432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4670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2009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3364992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ImageNet数据集发布，CV竞赛开始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968496"/>
            <a:ext cx="566928" cy="27432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6849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2011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3986784"/>
            <a:ext cx="3401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Netflix Prize推动推荐算法飞速进步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1024128"/>
            <a:ext cx="41605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02412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2012：深度学习爆发的那一刻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1463040"/>
            <a:ext cx="4160520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51790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AlexNet 震撼登场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81051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ImageNet竞赛错误率：传统方法 26.2%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AlexNet（深度学习） 15.3%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差距超过 10个百分点——业界震惊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17720" y="2578608"/>
            <a:ext cx="566928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57860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2014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9512" y="2596896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GAN生成对抗网络诞生，图像生成革命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17720" y="3127248"/>
            <a:ext cx="566928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12724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2015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39512" y="3145536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ResNet 152层，超越人类图像识别精度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17720" y="3675888"/>
            <a:ext cx="566928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67588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2016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9512" y="3694176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AlphaGo击败李世石，全球震动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17720" y="4224528"/>
            <a:ext cx="566928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22452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2017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9512" y="4242816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Transformer论文发布：Attention Is All You Need</a:t>
            </a:r>
            <a:endParaRPr lang="en-US" sz="1150" dirty="0"/>
          </a:p>
        </p:txBody>
      </p:sp>
      <p:sp>
        <p:nvSpPr>
          <p:cNvPr id="39" name="TextBox 3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02 · AI发展简史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大模型时代：ChatGPT改变了一切（2018至今）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51560"/>
            <a:ext cx="1325880" cy="3246120"/>
          </a:xfrm>
          <a:prstGeom prst="rect">
            <a:avLst/>
          </a:prstGeom>
          <a:solidFill>
            <a:srgbClr val="F8FA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51560"/>
            <a:ext cx="132588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88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2018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472184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BERT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" y="2130552"/>
            <a:ext cx="114300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055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Google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441448"/>
            <a:ext cx="1179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预训练语言模型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双向理解上下文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73936" y="1051560"/>
            <a:ext cx="1325880" cy="3246120"/>
          </a:xfrm>
          <a:prstGeom prst="rect">
            <a:avLst/>
          </a:prstGeom>
          <a:solidFill>
            <a:srgbClr val="F8FA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3936" y="1051560"/>
            <a:ext cx="132588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9656" y="1188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</a:rPr>
              <a:t>2019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19656" y="1472184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</a:rPr>
              <a:t>GPT-2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65376" y="2130552"/>
            <a:ext cx="1143000" cy="2377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213055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OpenAI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47088" y="2441448"/>
            <a:ext cx="1179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生成能力震惊业界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"太危险不公开"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051560"/>
            <a:ext cx="1325880" cy="3246120"/>
          </a:xfrm>
          <a:prstGeom prst="rect">
            <a:avLst/>
          </a:prstGeom>
          <a:solidFill>
            <a:srgbClr val="F8FAFB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51560"/>
            <a:ext cx="1325880" cy="914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188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B45"/>
                </a:solidFill>
              </a:rPr>
              <a:t>2020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1472184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</a:rPr>
              <a:t>GPT-3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1840" y="2130552"/>
            <a:ext cx="1143000" cy="23774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3055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OpenAI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73552" y="2441448"/>
            <a:ext cx="1179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1750亿参数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少样本学习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26864" y="1051560"/>
            <a:ext cx="1325880" cy="3246120"/>
          </a:xfrm>
          <a:prstGeom prst="rect">
            <a:avLst/>
          </a:prstGeom>
          <a:solidFill>
            <a:srgbClr val="F8FAFB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26864" y="1051560"/>
            <a:ext cx="1325880" cy="914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1188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720A"/>
                </a:solidFill>
              </a:rPr>
              <a:t>2022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72584" y="1472184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720A"/>
                </a:solidFill>
              </a:rPr>
              <a:t>ChatGPT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18304" y="2130552"/>
            <a:ext cx="1143000" cy="23774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13055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OpenAI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0016" y="2441448"/>
            <a:ext cx="1179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5天100万用户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2个月1亿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53328" y="1051560"/>
            <a:ext cx="1325880" cy="3246120"/>
          </a:xfrm>
          <a:prstGeom prst="rect">
            <a:avLst/>
          </a:prstGeom>
          <a:solidFill>
            <a:srgbClr val="F8FAFB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53328" y="1051560"/>
            <a:ext cx="1325880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9048" y="1188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44AD"/>
                </a:solidFill>
              </a:rPr>
              <a:t>2023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99048" y="1472184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44AD"/>
                </a:solidFill>
              </a:rPr>
              <a:t>Claude/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E44AD"/>
                </a:solidFill>
              </a:rPr>
              <a:t>Gemini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44768" y="2130552"/>
            <a:ext cx="1143000" cy="23774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213055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多家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0" y="2441448"/>
            <a:ext cx="1179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多模态竞争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全面商用落地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79792" y="1051560"/>
            <a:ext cx="1325880" cy="3246120"/>
          </a:xfrm>
          <a:prstGeom prst="rect">
            <a:avLst/>
          </a:prstGeom>
          <a:solidFill>
            <a:srgbClr val="F8FAF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79792" y="1051560"/>
            <a:ext cx="132588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25512" y="11887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2025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25512" y="1472184"/>
            <a:ext cx="1234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</a:rPr>
              <a:t>DeepSeek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</a:rPr>
              <a:t>R2/V3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71232" y="2130552"/>
            <a:ext cx="114300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1232" y="213055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深度求索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52944" y="2441448"/>
            <a:ext cx="1179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国产大模型崛起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开源冲击格局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7472" y="4462272"/>
            <a:ext cx="843076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4805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趋势：参数越来越大 → 能力越来越强 → 落地越来越广 → 成本越来越低</a:t>
            </a:r>
            <a:endParaRPr lang="en-US" sz="1300" dirty="0"/>
          </a:p>
        </p:txBody>
      </p:sp>
      <p:sp>
        <p:nvSpPr>
          <p:cNvPr id="49" name="TextBox 4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2E86AB"/>
                </a:solidFill>
              </a:rPr>
              <a:t>03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机器学习的三大支柱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算力 · 数据 · 算法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03 · 机器学习三大支柱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机器学习成功的三大支柱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AI成功 = 算力（Compute） + 数据（Data） + 算法（Algorithm）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743200" cy="32461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274320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746504"/>
            <a:ext cx="402336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46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GPU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1755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86AB"/>
                </a:solidFill>
              </a:rPr>
              <a:t>算力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20208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Compute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31343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CPU vs GPU：串行 vs 并行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73405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GPU专为矩阵运算设计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训练GPT-3: 数百个A100 x数周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57530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推理：量化压缩降低成本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9959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趋势：NPU/TPU/AI芯片崛起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498848"/>
            <a:ext cx="27432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98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NVIDIA / 英特尔 / 华为昇腾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600200"/>
            <a:ext cx="2743200" cy="3246120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600200"/>
            <a:ext cx="2743200" cy="914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1746504"/>
            <a:ext cx="402336" cy="40233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746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58768" y="1755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720A"/>
                </a:solidFill>
              </a:rPr>
              <a:t>数据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858768" y="20208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231343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数据是新石油——但要精炼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29000" y="273405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量 vs 质：脏数据毁模型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29000" y="315468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标注工作：人工智能靠人工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29000" y="357530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数据飞轮：用户越多数据越好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29000" y="39959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数据增强：旋转/裁剪/噪声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91840" y="4498848"/>
            <a:ext cx="2743200" cy="34747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4498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Common Crawl / ImageNet / 企业私有数据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1600200"/>
            <a:ext cx="2743200" cy="324612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1600200"/>
            <a:ext cx="2743200" cy="914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7648" y="1746504"/>
            <a:ext cx="402336" cy="40233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1746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84848" y="1755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7B45"/>
                </a:solidFill>
              </a:rPr>
              <a:t>算法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784848" y="20208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Algorithm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231343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模型结构：CNN/RNN/TF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55080" y="273405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损失函数：指导学什么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55080" y="315468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优化器：Adam/SGD调参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355080" y="357530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正则化：防止过拟合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355080" y="39959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Scaling Law：大即是美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4498848"/>
            <a:ext cx="2743200" cy="34747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4498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Transformer / Attention / LoRA / RLHF</a:t>
            </a:r>
            <a:endParaRPr lang="en-US" sz="900" dirty="0"/>
          </a:p>
        </p:txBody>
      </p:sp>
      <p:sp>
        <p:nvSpPr>
          <p:cNvPr id="46" name="TextBox 4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03 · 机器学习三大支柱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算力：AI时代的"军备竞赛"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CPU vs GPU：为什么GPU更适合AI？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192024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CPU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7498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73936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核1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1773936"/>
            <a:ext cx="7498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773936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核2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7498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7627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核3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25880" y="2176272"/>
            <a:ext cx="749808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17627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核4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59689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少量强力大核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串行处理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1920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</a:rPr>
              <a:t>vs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97480" y="1389888"/>
            <a:ext cx="1691640" cy="13716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1389888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</a:rPr>
              <a:t>GPU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61488" y="1755648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08376" y="1755648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55264" y="1755648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02152" y="1755648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1755648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95928" y="1755648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61488" y="1975104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08376" y="1975104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55264" y="1975104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02152" y="1975104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1975104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95928" y="1975104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61488" y="2194560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08376" y="2194560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55264" y="2194560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2152" y="2194560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9040" y="2194560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95928" y="2194560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61488" y="2414016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08376" y="2414016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55264" y="2414016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02152" y="2414016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49040" y="2414016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95928" y="2414016"/>
            <a:ext cx="201168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97480" y="26334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数千小核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并行处理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2999232"/>
            <a:ext cx="4069080" cy="47548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30358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86AB"/>
                </a:solidFill>
              </a:rPr>
              <a:t>神经网络本质就是大量矩阵乘法，GPU的并行架构天生适合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35844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算力军备竞赛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" y="391363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NVIDIA A100/H100：AI训练标准配置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41879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Google TPU：专为TF设计，内部使用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44622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华为昇腾：国产替代，已用于大模型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" y="473659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推理端：手机NPU（高通/苹果）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1005840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102412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训练规模对比（参数量）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700482" y="144775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D2D2D"/>
                </a:solidFill>
              </a:rPr>
              <a:t>BERT-base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24353" y="146938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1.1亿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00482" y="19751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D2D2D"/>
                </a:solidFill>
              </a:rPr>
              <a:t>GPT-2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24353" y="2019089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15亿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00482" y="252374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D2D2D"/>
                </a:solidFill>
              </a:rPr>
              <a:t>GPT-3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824353" y="259169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720A"/>
                </a:solidFill>
              </a:rPr>
              <a:t>1750亿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700482" y="307238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D2D2D"/>
                </a:solidFill>
              </a:rPr>
              <a:t>GPT-4(估)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824353" y="3100817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1.8万亿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700482" y="362102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D2D2D"/>
                </a:solidFill>
              </a:rPr>
              <a:t>Llama-3 8B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876754" y="3657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80亿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800600" y="4224528"/>
            <a:ext cx="3977640" cy="640080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92040" y="426110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720A"/>
                </a:solidFill>
              </a:rPr>
              <a:t>训练GPT-3的算力成本约 $460万美元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720A"/>
                </a:solidFill>
              </a:rPr>
              <a:t>让模型"聪明"需要烧很多钱和电</a:t>
            </a:r>
            <a:endParaRPr lang="en-US" sz="1150" dirty="0"/>
          </a:p>
        </p:txBody>
      </p:sp>
      <p:sp>
        <p:nvSpPr>
          <p:cNvPr id="71" name="TextBox 7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03 · 机器学习三大支柱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数据：AI的燃料——但要精炼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量 vs 质：一个常见误区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08176"/>
            <a:ext cx="4069080" cy="82296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08176"/>
            <a:ext cx="47548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08176"/>
            <a:ext cx="475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499616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海量脏数据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828800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模型学坏、幻觉严重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40864"/>
            <a:ext cx="4069080" cy="82296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40864"/>
            <a:ext cx="475488" cy="82296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40864"/>
            <a:ext cx="475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24323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B45"/>
                </a:solidFill>
              </a:rPr>
              <a:t>少量精标数据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761488"/>
            <a:ext cx="3493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模型反而更准确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364992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720A"/>
                </a:solidFill>
              </a:rPr>
              <a:t>数据标注的现实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712464"/>
            <a:ext cx="4069080" cy="877824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4904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人工智能背后站着大量人工标注员。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RLHF训练ChatGPT：人类给回答评分。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"AI”的幕后，是大量肉眼可见的人力。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1005840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2412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数据飞轮效应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426464"/>
            <a:ext cx="146304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42646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更多用户使用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32320" y="2194560"/>
            <a:ext cx="1463040" cy="40233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19456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产生更多数据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3063240"/>
            <a:ext cx="1463040" cy="40233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06324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模型更智能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2331720"/>
            <a:ext cx="1463040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317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体验更好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 rot="2931275">
            <a:off x="7301584" y="1627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84464" y="267205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 rot="2623508">
            <a:off x="5961888" y="292300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751576" y="1956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↑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00600" y="363931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例：抖音推荐越用越懂你，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Google翻译越用越准确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41879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常见数据集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444398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ImageNet（CV）· Common Crawl（NLP）· LibriSpeech（ASR）</a:t>
            </a:r>
            <a:endParaRPr 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03 · 机器学习三大支柱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算法：从CNN到Transformer的演进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2029968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2029968" cy="9144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1980~2010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43560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</a:rPr>
              <a:t>浅层模型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逻辑回归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SVM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决策树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55264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随机森林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847088" cy="658368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75888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特征工程为主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需要人工设计特征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23744" y="1024128"/>
            <a:ext cx="2029968" cy="33832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3744" y="1024128"/>
            <a:ext cx="2029968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1152144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2012~2017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96896" y="143560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</a:rPr>
              <a:t>卷积网络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</a:rPr>
              <a:t>CNN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60904" y="21031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LeNet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60904" y="248716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AlexNet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60904" y="287121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VGG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60904" y="3255264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ResNet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15184" y="3657600"/>
            <a:ext cx="1847088" cy="658368"/>
          </a:xfrm>
          <a:prstGeom prst="rect">
            <a:avLst/>
          </a:prstGeom>
          <a:solidFill>
            <a:srgbClr val="C8E6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3675888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</a:rPr>
              <a:t>自动学习图像特征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</a:rPr>
              <a:t>CV任务突破性进展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81728" y="1024128"/>
            <a:ext cx="2029968" cy="3383280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1024128"/>
            <a:ext cx="2029968" cy="914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152144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2014~2018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143560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720A"/>
                </a:solidFill>
              </a:rPr>
              <a:t>循环网络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4720A"/>
                </a:solidFill>
              </a:rPr>
              <a:t>RNN/LSTM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18888" y="21031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RNN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248716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LSTM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18888" y="287121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GRU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18888" y="3255264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Seq2Seq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73168" y="3657600"/>
            <a:ext cx="1847088" cy="658368"/>
          </a:xfrm>
          <a:prstGeom prst="rect">
            <a:avLst/>
          </a:prstGeom>
          <a:solidFill>
            <a:srgbClr val="FCE8D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675888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720A"/>
                </a:solidFill>
              </a:rPr>
              <a:t>处理序列数据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720A"/>
                </a:solidFill>
              </a:rPr>
              <a:t>NLP早期主力模型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39712" y="1024128"/>
            <a:ext cx="2029968" cy="338328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39712" y="1024128"/>
            <a:ext cx="2029968" cy="914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1152144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2017至今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12864" y="1435608"/>
            <a:ext cx="18836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</a:rPr>
              <a:t>Transformer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76872" y="210312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BERT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76872" y="248716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GPT系列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76872" y="287121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T5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76872" y="3255264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LLaMA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31152" y="3657600"/>
            <a:ext cx="1847088" cy="658368"/>
          </a:xfrm>
          <a:prstGeom prst="rect">
            <a:avLst/>
          </a:prstGeom>
          <a:solidFill>
            <a:srgbClr val="C8EDD8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3675888"/>
            <a:ext cx="1773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注意力机制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并行训练更高效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Scaling Law：模型越大 + 数据越多 + 训练越久 → 能力越强（有规律可循）</a:t>
            </a:r>
            <a:endParaRPr lang="en-US" sz="1300" dirty="0"/>
          </a:p>
        </p:txBody>
      </p:sp>
      <p:sp>
        <p:nvSpPr>
          <p:cNvPr id="47" name="TextBox 4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2E86AB"/>
                </a:solidFill>
              </a:rPr>
              <a:t>04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AI行业岗位与团队构成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算法岗位 · 工程岗位 · 项目团队协作链路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04 · AI行业岗位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AI行业岗位全景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2011680" cy="37947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2011680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算法方向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1115568"/>
            <a:ext cx="47548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115568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NLP算法工程师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CV算法工程师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推荐/广告算法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强化学习工程师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大模型工程师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1024128"/>
            <a:ext cx="2011680" cy="3794760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024128"/>
            <a:ext cx="2011680" cy="42062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0241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工程方向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155448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AI基础架构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217627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MLOps工程师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279806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数据工程师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419856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模型部署工程师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041648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AI平台工程师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024128"/>
            <a:ext cx="2011680" cy="379476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024128"/>
            <a:ext cx="2011680" cy="42062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241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产品/运营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155448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AI产品经理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17627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AI解决方案顾问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279806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AI运营专员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419856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算法商务BD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4041648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数据产品经理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12280" y="1024128"/>
            <a:ext cx="2011680" cy="3794760"/>
          </a:xfrm>
          <a:prstGeom prst="rect">
            <a:avLst/>
          </a:prstGeom>
          <a:solidFill>
            <a:srgbClr val="F5EEF8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1024128"/>
            <a:ext cx="2011680" cy="42062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0241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研究方向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155448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机器学习研究员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217627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NLP研究员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279806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CV研究员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3419856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· 理论研究员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4041648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(通常需要博士)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04 · AI行业岗位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E3A5F"/>
                </a:solidFill>
              </a:rPr>
              <a:t>AI工程师：各岗位日常工作是什么</a:t>
            </a:r>
            <a:r>
              <a:rPr lang="en-US" sz="2400" b="1" dirty="0">
                <a:solidFill>
                  <a:srgbClr val="1E3A5F"/>
                </a:solidFill>
              </a:rPr>
              <a:t>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011680" cy="32918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01168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NLP算法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6AB"/>
                </a:solidFill>
              </a:rPr>
              <a:t>日常工作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调研论文 → 复现实验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1945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数据清洗与标注规范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6517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模型微调与效果评估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1089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线上A/B实验分析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2011680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822192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Python · PyTorch · HF Transformers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1005840"/>
            <a:ext cx="2011680" cy="3291840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005840"/>
            <a:ext cx="2011680" cy="40233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0058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CV算法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146304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720A"/>
                </a:solidFill>
              </a:rPr>
              <a:t>日常工作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24328" y="17373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数据采集与增强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24328" y="21945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目标检测/图像分割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24328" y="26517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模型量化与推理优化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24328" y="31089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与硬件团队联调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3822192"/>
            <a:ext cx="2011680" cy="47548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3822192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Python · PyTorch · TensorRT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2011680" cy="329184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005840"/>
            <a:ext cx="2011680" cy="40233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0058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推荐算法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3168" y="146304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7B45"/>
                </a:solidFill>
              </a:rPr>
              <a:t>日常工作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17373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特征工程与离线实验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21945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召回/排序模型迭代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26517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指标分析（CTR/GMV）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1089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全链路A/B实验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822192"/>
            <a:ext cx="2011680" cy="47548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822192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Python · Spark · TensorFlow · Hive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12280" y="1005840"/>
            <a:ext cx="2011680" cy="3291840"/>
          </a:xfrm>
          <a:prstGeom prst="rect">
            <a:avLst/>
          </a:prstGeom>
          <a:solidFill>
            <a:srgbClr val="F5EEF8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1005840"/>
            <a:ext cx="2011680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10058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大模型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22008" y="146304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44AD"/>
                </a:solidFill>
              </a:rPr>
              <a:t>日常工作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22008" y="17373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提示工程与效果评估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22008" y="21945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LoRA/SFT微调训练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22008" y="26517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RLHF偏好对齐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22008" y="310896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RAG知识库搭建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12280" y="3822192"/>
            <a:ext cx="2011680" cy="47548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85432" y="3822192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Python · Transformers · vLLM · PEFT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443984"/>
            <a:ext cx="841248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44622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</a:rPr>
              <a:t>共同点：读论文 + 跑实验 + </a:t>
            </a:r>
            <a:r>
              <a:rPr lang="zh-CN" altLang="en-US" sz="1100" i="1" dirty="0">
                <a:solidFill>
                  <a:srgbClr val="666666"/>
                </a:solidFill>
              </a:rPr>
              <a:t>构造</a:t>
            </a:r>
            <a:r>
              <a:rPr lang="en-US" altLang="zh-CN" sz="1100" i="1" dirty="0">
                <a:solidFill>
                  <a:srgbClr val="666666"/>
                </a:solidFill>
              </a:rPr>
              <a:t>/</a:t>
            </a:r>
            <a:r>
              <a:rPr lang="en-US" sz="1100" i="1" dirty="0" err="1">
                <a:solidFill>
                  <a:srgbClr val="666666"/>
                </a:solidFill>
              </a:rPr>
              <a:t>分析数据</a:t>
            </a:r>
            <a:r>
              <a:rPr lang="en-US" sz="1100" i="1" dirty="0">
                <a:solidFill>
                  <a:srgbClr val="666666"/>
                </a:solidFill>
              </a:rPr>
              <a:t> + </a:t>
            </a:r>
            <a:r>
              <a:rPr lang="en-US" sz="1100" i="1" dirty="0" err="1">
                <a:solidFill>
                  <a:srgbClr val="666666"/>
                </a:solidFill>
              </a:rPr>
              <a:t>写代码</a:t>
            </a:r>
            <a:r>
              <a:rPr lang="en-US" sz="1100" i="1" dirty="0">
                <a:solidFill>
                  <a:srgbClr val="666666"/>
                </a:solidFill>
              </a:rPr>
              <a:t>。</a:t>
            </a:r>
            <a:endParaRPr lang="en-US" sz="1100" dirty="0"/>
          </a:p>
        </p:txBody>
      </p:sp>
      <p:sp>
        <p:nvSpPr>
          <p:cNvPr id="47" name="TextBox 4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04 · AI行业岗位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一个AI项目的典型团队构成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188720" cy="2103120"/>
          </a:xfrm>
          <a:prstGeom prst="rect">
            <a:avLst/>
          </a:prstGeom>
          <a:solidFill>
            <a:srgbClr val="F5EEF8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18872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产品经理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10241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需求定义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优先级排序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用户故事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874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74520" y="1051560"/>
            <a:ext cx="1188720" cy="2103120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1051560"/>
            <a:ext cx="1188720" cy="34747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数据工程师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1453896"/>
            <a:ext cx="10241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数据采集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清洗标注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特征工程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1528" y="1874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1051560"/>
            <a:ext cx="1188720" cy="21031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051560"/>
            <a:ext cx="11887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算法工程师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1453896"/>
            <a:ext cx="10241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模型训练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效果评估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迭代优化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0288" y="1874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92040" y="1051560"/>
            <a:ext cx="1188720" cy="210312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051560"/>
            <a:ext cx="1188720" cy="34747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平台工程师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1453896"/>
            <a:ext cx="10241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模型压缩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服务部署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性能调优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9048" y="1874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1051560"/>
            <a:ext cx="1188720" cy="21031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051560"/>
            <a:ext cx="11887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测试工程师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1453896"/>
            <a:ext cx="10241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功能测试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压力测试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效果验收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07808" y="18745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09560" y="1051560"/>
            <a:ext cx="1188720" cy="2103120"/>
          </a:xfrm>
          <a:prstGeom prst="rect">
            <a:avLst/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1051560"/>
            <a:ext cx="11887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运营人员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01000" y="1453896"/>
            <a:ext cx="1024128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用户反馈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效果监控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持续迭代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310128"/>
            <a:ext cx="4069080" cy="148132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3649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小团队（创业/小厂）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657600"/>
            <a:ext cx="3886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算法工程师身兼多职（算法+部署+分析）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迭代快，一个人可以跑完整链路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技术栈较全，但深度可能不足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09160" y="3310128"/>
            <a:ext cx="4069080" cy="1481328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3649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B45"/>
                </a:solidFill>
              </a:rPr>
              <a:t>大团队（大厂）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0600" y="3657600"/>
            <a:ext cx="3886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分工更细，专注于某个模块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流程规范，有完善的工程基础设施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资源充足，但推进节奏慢、审批多</a:t>
            </a:r>
            <a:endParaRPr lang="en-US" sz="1150" dirty="0"/>
          </a:p>
        </p:txBody>
      </p:sp>
      <p:sp>
        <p:nvSpPr>
          <p:cNvPr id="40" name="TextBox 3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2E86AB"/>
                </a:solidFill>
              </a:rPr>
              <a:t>05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AI行业现状与大厂vs小厂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行业格局 · 就业市场 · 选择建议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05 · 行业现状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AI行业当前发展现状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当前行业格局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04672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国外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25296" y="1408176"/>
            <a:ext cx="3209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OpenAI · Anthropic · DeepMind · Meta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804672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国内大厂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25296" y="2121408"/>
            <a:ext cx="3209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百度文心 · 阿里通义 · 腾讯混元 · 豆包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804672" cy="31089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16352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创业公司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25296" y="2834640"/>
            <a:ext cx="3209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深度求索 · 月之暗面 · 智谱AI · 零一万物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29584"/>
            <a:ext cx="804672" cy="31089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29584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应用层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25296" y="3547872"/>
            <a:ext cx="32095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教育/医疗/法律/设计/编程等行业AI工具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2793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720A"/>
                </a:solidFill>
              </a:rPr>
              <a:t>就业市场变化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5537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算法岗需求持续旺盛，大模型工程师尤其抢手；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应用层开发需求激增，会用AI工具成为通用技能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1005840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AI会淘汰程序员吗？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389888"/>
            <a:ext cx="397764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408176"/>
            <a:ext cx="3767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短期答案：不会。AI更像是"超级搜索引擎+代码补全"，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需要人来提问、审查、决策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029968"/>
            <a:ext cx="694944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029968"/>
            <a:ext cx="694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被替代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50408" y="206654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D2D2D"/>
                </a:solidFill>
              </a:rPr>
              <a:t>重复性高、逻辑简单的代码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724912"/>
            <a:ext cx="694944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724912"/>
            <a:ext cx="694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被增强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50408" y="276148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复杂架构设计、业务理解、调试排错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3419856"/>
            <a:ext cx="694944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419856"/>
            <a:ext cx="694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新机会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50408" y="345643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AI应用开发、Prompt工程、AI产品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4169664"/>
            <a:ext cx="397764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20624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结论：AI不会淘汰程序员，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但会用AI的程序员会淘汰不用AI的程序员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05 · 行业现状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大厂 vs 小厂：多维度对比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66420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058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维度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31546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57984" y="1005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大厂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49240" y="1005840"/>
            <a:ext cx="31546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04104" y="1005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小厂/创业公司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389888"/>
            <a:ext cx="1664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8988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薪资水平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1389888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389888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★★★★★  TC高，期权较少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9240" y="1389888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1389888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★★★☆☆  base略低，期权潜力大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810512"/>
            <a:ext cx="1664208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810512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技术深度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03120" y="1810512"/>
            <a:ext cx="31546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1810512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★★★★☆  基础设施完善，专研某领域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9240" y="1810512"/>
            <a:ext cx="31546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2392" y="1810512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★★★★★  全栈，从研究到落地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231136"/>
            <a:ext cx="1664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231136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业务落地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03120" y="2231136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2231136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★★★☆☆  链路长，推动慢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49240" y="2231136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2231136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★★★★★  直接影响产品，快速迭代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651760"/>
            <a:ext cx="1664208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651760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稳定性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103120" y="2651760"/>
            <a:ext cx="31546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76272" y="2651760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★★★★☆  相对稳定，裁员有序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49240" y="2651760"/>
            <a:ext cx="31546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22392" y="2651760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★★☆☆☆  融资依赖，风险较高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072384"/>
            <a:ext cx="1664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072384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学习成长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03120" y="3072384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3072384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★★★☆☆  专门化，视野可能窄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49240" y="3072384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22392" y="3072384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★★★★☆  边界模糊，成长快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3493008"/>
            <a:ext cx="1664208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349300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内卷程度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103120" y="3493008"/>
            <a:ext cx="31546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76272" y="3493008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★★★★★  竞争激烈，晋升通道窄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49240" y="3493008"/>
            <a:ext cx="31546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22392" y="3493008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★★★☆☆  人员精简，压力集中在业绩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3913632"/>
            <a:ext cx="166420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3913632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工作节奏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103120" y="3913632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76272" y="3913632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★★★☆☆  相对规范，但大项目拖沓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49240" y="3913632"/>
            <a:ext cx="3154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22392" y="3913632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★★★★☆  节奏快，决策灵活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4334256"/>
            <a:ext cx="1664208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334256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品牌背书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103120" y="4334256"/>
            <a:ext cx="31546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76272" y="4334256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★★★★★  简历加分，跳槽溢价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349240" y="4334256"/>
            <a:ext cx="31546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22392" y="4334256"/>
            <a:ext cx="3026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</a:rPr>
              <a:t>★★☆☆☆  需靠项目经历说话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1" name="TextBox 6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2E86AB"/>
                </a:solidFill>
              </a:rPr>
              <a:t>06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如何成为AI工程师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必备能力 · 学习路线 · 资源推荐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06 · 如何成为AI工程师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AI工程师必备的五大能力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609344" cy="3858768"/>
          </a:xfrm>
          <a:prstGeom prst="rect">
            <a:avLst/>
          </a:prstGeom>
          <a:solidFill>
            <a:srgbClr val="EBF0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609344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52144"/>
            <a:ext cx="38404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65C0"/>
                </a:solidFill>
              </a:rPr>
              <a:t>数学基础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5488" y="1664208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线性代数：矩阵/向量/特征值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176272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概率统计：贝叶斯/分布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68833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微积分：梯度下降的基础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59936"/>
            <a:ext cx="14264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40782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不需要推导论文，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能理解模型背后的直觉即可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75688" y="1005840"/>
            <a:ext cx="1609344" cy="38587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5688" y="1005840"/>
            <a:ext cx="1609344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85416" y="1152144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85416" y="1152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24328" y="118872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AB"/>
                </a:solidFill>
              </a:rPr>
              <a:t>编程能力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185416" y="1664208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Python：首选，生态最完善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85416" y="2176272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PyTorch/TF深度学习框架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85416" y="268833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SQL + Linux基础操作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67128" y="4059936"/>
            <a:ext cx="1426464" cy="7132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03704" y="40782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Python熟练度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直接决定工作效率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85616" y="1005840"/>
            <a:ext cx="1609344" cy="3858768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85616" y="1005840"/>
            <a:ext cx="1609344" cy="914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95344" y="1152144"/>
            <a:ext cx="384048" cy="38404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95344" y="1152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34256" y="118872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720A"/>
                </a:solidFill>
              </a:rPr>
              <a:t>ML理论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895344" y="1664208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经典模型：线回/SVM/树模型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95344" y="2176272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神经网络原理与调参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95344" y="268833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评估指标与实验设计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77056" y="4059936"/>
            <a:ext cx="1426464" cy="7132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13632" y="40782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理论是地图，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实践是腿，缺一不可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95544" y="1005840"/>
            <a:ext cx="1609344" cy="3858768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95544" y="1005840"/>
            <a:ext cx="1609344" cy="914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05272" y="1152144"/>
            <a:ext cx="384048" cy="38404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05272" y="1152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044184" y="118872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7B45"/>
                </a:solidFill>
              </a:rPr>
              <a:t>工程能力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605272" y="1664208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模型训练与调参流程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05272" y="2176272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模型部署：API/推理服务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05272" y="268833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数据处理与特征工程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86984" y="4059936"/>
            <a:ext cx="1426464" cy="7132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40782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工程能力决定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能否上线落地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05472" y="1005840"/>
            <a:ext cx="1609344" cy="3858768"/>
          </a:xfrm>
          <a:prstGeom prst="rect">
            <a:avLst/>
          </a:prstGeom>
          <a:solidFill>
            <a:srgbClr val="F5EEF8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05472" y="1005840"/>
            <a:ext cx="1609344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0" y="1152144"/>
            <a:ext cx="384048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1152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754112" y="1188720"/>
            <a:ext cx="969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E44AD"/>
                </a:solidFill>
              </a:rPr>
              <a:t>软技能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7315200" y="1664208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业务理解与需求拆解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2176272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读论文与快速跟进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0" y="268833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· 沟通协作与表达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296912" y="4059936"/>
            <a:ext cx="1426464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3488" y="40782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被低估但极重要，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影响晋升和发展</a:t>
            </a:r>
            <a:endParaRPr 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06 · 如何成为AI工程师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AI工程师学习路线（0→1→业务）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609344" cy="3401568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609344" cy="9144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</a:rPr>
              <a:t>阶段0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6666"/>
                </a:solidFill>
              </a:rPr>
              <a:t>编程基础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" y="1828800"/>
            <a:ext cx="1389888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17627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Python基础语法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670048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Numpy/Pandas数据处理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3163824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Matplotlib可视化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365760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Git版本管理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2468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084832" y="1005840"/>
            <a:ext cx="1609344" cy="34015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4832" y="1005840"/>
            <a:ext cx="1609344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4832" y="11155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阶段1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84832" y="138988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86AB"/>
                </a:solidFill>
              </a:rPr>
              <a:t>ML入门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194560" y="1828800"/>
            <a:ext cx="1389888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94560" y="217627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监督学习经典模型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2670048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scikit-learn实战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3163824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Kaggle入门竞赛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94560" y="365760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数学回顾（线代+统计）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30752" y="2468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803904" y="1005840"/>
            <a:ext cx="1609344" cy="3401568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03904" y="1005840"/>
            <a:ext cx="1609344" cy="914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3904" y="11155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720A"/>
                </a:solidFill>
              </a:rPr>
              <a:t>阶段2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03904" y="138988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720A"/>
                </a:solidFill>
              </a:rPr>
              <a:t>深度学习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913632" y="1828800"/>
            <a:ext cx="1389888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13632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913632" y="217627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PyTorch基础实战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913632" y="2670048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CNN/RNN/注意力机制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913632" y="3163824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完整训练流程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13632" y="365760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读懂经典论文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49824" y="2468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522976" y="1005840"/>
            <a:ext cx="1609344" cy="3401568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22976" y="1005840"/>
            <a:ext cx="1609344" cy="914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76" y="11155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</a:rPr>
              <a:t>阶段3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22976" y="138988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7B45"/>
                </a:solidFill>
              </a:rPr>
              <a:t>方向专攻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632704" y="1828800"/>
            <a:ext cx="1389888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32704" y="217627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选择NLP/CV/推荐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32704" y="2670048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复现SOTA论文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32704" y="3163824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做出完整项目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32704" y="365760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参加竞赛/开源贡献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168896" y="2468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242048" y="1005840"/>
            <a:ext cx="1609344" cy="3401568"/>
          </a:xfrm>
          <a:prstGeom prst="rect">
            <a:avLst/>
          </a:prstGeom>
          <a:solidFill>
            <a:srgbClr val="EAF0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42048" y="1005840"/>
            <a:ext cx="1609344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42048" y="1115568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阶段4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242048" y="138988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</a:rPr>
              <a:t>工程落地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351776" y="1828800"/>
            <a:ext cx="138988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51776" y="182880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351776" y="217627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模型部署与推理优化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351776" y="2670048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业务理解与需求分析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351776" y="3163824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大模型微调应用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351776" y="365760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建立技术影响力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" y="459028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4720A"/>
                </a:solidFill>
              </a:rPr>
              <a:t>避坑：别光看课程不动手 · 别追求100%理解再写代码 · 项目比竞赛证书更有说服力</a:t>
            </a:r>
            <a:endParaRPr lang="en-US" sz="1150" dirty="0"/>
          </a:p>
        </p:txBody>
      </p:sp>
      <p:sp>
        <p:nvSpPr>
          <p:cNvPr id="61" name="TextBox 6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06 · 如何成为AI工程师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精选学习资源推荐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书籍 / 课程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04672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入门书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25296" y="1389888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《Python编程》· 《统计学习方法》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804672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7510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ML课程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25296" y="1993392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Andrew Ng机器学习（Coursera）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04672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7860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DL课程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25296" y="2596896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李沐《动手学深度学习》（免费）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804672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82112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NLP进阶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25296" y="3200400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HuggingFace课程（免费，超实用）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85616"/>
            <a:ext cx="804672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8561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LLM实战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25296" y="3803904"/>
            <a:ext cx="31638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Andrej Karpathy的YouTube系列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4348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720A"/>
                </a:solidFill>
              </a:rPr>
              <a:t>实践平台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Kaggle竞赛 · HuggingFace Hub · Papers with Code · GitHub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932688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5行代码体验大模型微调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389888"/>
            <a:ext cx="397764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463040"/>
            <a:ext cx="370332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加载预训练模型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 = pipeline("sentiment-analysis")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直接预测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clf("这个产品真的很好用！")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[{'label': 'POSITIVE', 'score': 0.99}]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4930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核心学习建议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8221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每天写代码，哪怕只有30分钟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0600" y="40965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用项目驱动学习，而非看完再做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43708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读论文先看Abstract和实验部分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46451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加入学习社群，减少信息茧房</a:t>
            </a:r>
            <a:endParaRPr lang="en-US" sz="1150" dirty="0"/>
          </a:p>
        </p:txBody>
      </p:sp>
      <p:sp>
        <p:nvSpPr>
          <p:cNvPr id="32" name="TextBox 3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2E86AB"/>
                </a:solidFill>
              </a:rPr>
              <a:t>07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NLP——让机器理解人类语言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任务场景 · 技术演进 · 大模型时代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07 · NLP介绍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NLP解决哪些问题？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NLP = 让计算机读懂、生成、翻译和推理人类语言——文字、语音、代码背后的意义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2651760" cy="15727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81328"/>
            <a:ext cx="265176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645920"/>
            <a:ext cx="402336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9264" y="166420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文本分类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" y="2157984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垃圾邮件识别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新闻分类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意图识别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1481328"/>
            <a:ext cx="2651760" cy="1572768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481328"/>
            <a:ext cx="2651760" cy="7315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645920"/>
            <a:ext cx="402336" cy="40233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85616" y="166420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7B45"/>
                </a:solidFill>
              </a:rPr>
              <a:t>情感分析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2157984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评论情绪判断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舆情监控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用户满意度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98464" y="1481328"/>
            <a:ext cx="2651760" cy="1572768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481328"/>
            <a:ext cx="2651760" cy="7315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645920"/>
            <a:ext cx="402336" cy="40233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1968" y="1664208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720A"/>
                </a:solidFill>
              </a:rPr>
              <a:t>机器翻译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2157984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多语言转换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专业领域翻译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实时同传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163824"/>
            <a:ext cx="2651760" cy="1572768"/>
          </a:xfrm>
          <a:prstGeom prst="rect">
            <a:avLst/>
          </a:prstGeom>
          <a:solidFill>
            <a:srgbClr val="F5EEF8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163824"/>
            <a:ext cx="265176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" y="3328416"/>
            <a:ext cx="40233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328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9264" y="3346704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</a:rPr>
              <a:t>问答系统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" y="3840480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搜索引擎问答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知识库查询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智能客服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82112" y="3163824"/>
            <a:ext cx="2651760" cy="1572768"/>
          </a:xfrm>
          <a:prstGeom prst="rect">
            <a:avLst/>
          </a:prstGeom>
          <a:solidFill>
            <a:srgbClr val="EBF0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3163824"/>
            <a:ext cx="265176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328416"/>
            <a:ext cx="402336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328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85616" y="3346704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文本摘要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10128" y="3840480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新闻摘要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文件压缩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会议纪要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98464" y="3163824"/>
            <a:ext cx="2651760" cy="157276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98464" y="3163824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3328416"/>
            <a:ext cx="402336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328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取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01968" y="3346704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信息抽取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26480" y="3840480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命名实体识别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关系抽取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事件检测</a:t>
            </a:r>
            <a:endParaRPr lang="en-US" sz="110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07 · NLP介绍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NLP在哪里？——无处不在的应用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914400" cy="8412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搜索引擎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07899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Query理解：用户真正想查什么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53312" y="14447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语义匹配：关键词→意图→文档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914400" cy="84124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智能客服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204825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意图识别 + 对话管理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53312" y="241401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大模型使客服对话更自然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914400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62656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内容审核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53312" y="301752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违规文字检测（暴力/色情）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53312" y="338328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虚假信息与谣言识别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914400" cy="84124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代码生成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53312" y="398678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自然语言→代码（Copilot/Claude）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53312" y="435254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代码解释、补全、Review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987552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大模型时代的NLP变化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1408176"/>
            <a:ext cx="3977640" cy="73152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1536192"/>
            <a:ext cx="786384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53619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专一模型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41848" y="153619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88736" y="1536192"/>
            <a:ext cx="969264" cy="2377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88736" y="1536192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通用大模型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28032" y="18288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一个模型完成翻译/摘要/问答/代码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2249424"/>
            <a:ext cx="3977640" cy="731520"/>
          </a:xfrm>
          <a:prstGeom prst="rect">
            <a:avLst/>
          </a:prstGeom>
          <a:solidFill>
            <a:srgbClr val="F8FAF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2377440"/>
            <a:ext cx="786384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377440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需大量标注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41848" y="237744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888736" y="2377440"/>
            <a:ext cx="969264" cy="2377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8736" y="2377440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少样本/零样本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28032" y="26700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几个例子甚至不给例子就能工作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3090672"/>
            <a:ext cx="3977640" cy="73152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28032" y="3218688"/>
            <a:ext cx="786384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3218688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规则+ML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41848" y="321868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888736" y="3218688"/>
            <a:ext cx="969264" cy="2377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88736" y="3218688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端到端生成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28032" y="351129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不再需要流程图式规则设计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3931920"/>
            <a:ext cx="3977640" cy="731520"/>
          </a:xfrm>
          <a:prstGeom prst="rect">
            <a:avLst/>
          </a:prstGeom>
          <a:solidFill>
            <a:srgbClr val="F8FAF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4059936"/>
            <a:ext cx="786384" cy="23774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4059936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特征工程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41848" y="405993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888736" y="4059936"/>
            <a:ext cx="969264" cy="2377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88736" y="4059936"/>
            <a:ext cx="9692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提示工程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28032" y="43525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Prompt替代特征工程成新核心技能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00600" y="4736592"/>
            <a:ext cx="397764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47365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大模型让NLP从"解题"变成了"对话"</a:t>
            </a:r>
            <a:endParaRPr 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07 · NLP介绍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NLP技术演进：从词袋到大模型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609344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609344" cy="7315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609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</a:rPr>
              <a:t>1990s~2005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6666"/>
                </a:solidFill>
              </a:rPr>
              <a:t>规则/统计时代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1426464" cy="82296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词袋模型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TF-IDF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HMM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84448"/>
            <a:ext cx="1426464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602736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人工规则为主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不理解语义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468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84832" y="1005840"/>
            <a:ext cx="1609344" cy="3383280"/>
          </a:xfrm>
          <a:prstGeom prst="rect">
            <a:avLst/>
          </a:prstGeom>
          <a:solidFill>
            <a:srgbClr val="EBF0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4832" y="1005840"/>
            <a:ext cx="1609344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1115568"/>
            <a:ext cx="1609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2013~2016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84832" y="1371600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词向量时代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76272" y="1901952"/>
            <a:ext cx="1426464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1901952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Word2Vec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GloVe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76272" y="3584448"/>
            <a:ext cx="1426464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3602736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</a:rPr>
              <a:t>词有了语义表示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</a:rPr>
              <a:t>「king-man=queen」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30752" y="2468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803904" y="1005840"/>
            <a:ext cx="1609344" cy="3383280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03904" y="1005840"/>
            <a:ext cx="1609344" cy="7315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3904" y="1115568"/>
            <a:ext cx="1609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720A"/>
                </a:solidFill>
              </a:rPr>
              <a:t>2014~2018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03904" y="1371600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720A"/>
                </a:solidFill>
              </a:rPr>
              <a:t>序列模型时代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95344" y="1901952"/>
            <a:ext cx="1426464" cy="82296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95344" y="1901952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LSTM/GRU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Seq2Seq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Attention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95344" y="3584448"/>
            <a:ext cx="1426464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3632" y="3602736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720A"/>
                </a:solidFill>
              </a:rPr>
              <a:t>能处理长序列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4720A"/>
                </a:solidFill>
              </a:rPr>
              <a:t>翻译质量大幅提升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9824" y="2468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522976" y="1005840"/>
            <a:ext cx="1609344" cy="33832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22976" y="1005840"/>
            <a:ext cx="1609344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22976" y="1115568"/>
            <a:ext cx="1609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</a:rPr>
              <a:t>2018~2020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22976" y="1371600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AB"/>
                </a:solidFill>
              </a:rPr>
              <a:t>预训练时代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14416" y="1901952"/>
            <a:ext cx="1426464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14416" y="1901952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GPT-2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XLNet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14416" y="3584448"/>
            <a:ext cx="1426464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32704" y="3602736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AB"/>
                </a:solidFill>
              </a:rPr>
              <a:t>大规模预训练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86AB"/>
                </a:solidFill>
              </a:rPr>
              <a:t>微调下游任务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68896" y="246888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242048" y="1005840"/>
            <a:ext cx="1609344" cy="338328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42048" y="1005840"/>
            <a:ext cx="1609344" cy="7315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1115568"/>
            <a:ext cx="1609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B45"/>
                </a:solidFill>
              </a:rPr>
              <a:t>2020至今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42048" y="1371600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7B45"/>
                </a:solidFill>
              </a:rPr>
              <a:t>大模型时代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333488" y="1901952"/>
            <a:ext cx="1426464" cy="82296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33488" y="1901952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GPT-3/4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LLaMA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33488" y="3584448"/>
            <a:ext cx="1426464" cy="713232"/>
          </a:xfrm>
          <a:prstGeom prst="rect">
            <a:avLst/>
          </a:prstGeom>
          <a:solidFill>
            <a:srgbClr val="F0F0F0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51776" y="3602736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7B45"/>
                </a:solidFill>
              </a:rPr>
              <a:t>涌现能力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17B45"/>
                </a:solidFill>
              </a:rPr>
              <a:t>少样本/零样本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572000"/>
            <a:ext cx="841248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5720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Transformer架构（2017）是最关键转折点——并行训练 + 注意力机制，让超大模型成为可能</a:t>
            </a:r>
            <a:endParaRPr lang="en-US" sz="1250" dirty="0"/>
          </a:p>
        </p:txBody>
      </p:sp>
      <p:sp>
        <p:nvSpPr>
          <p:cNvPr id="51" name="TextBox 5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2E86AB"/>
                </a:solidFill>
              </a:rPr>
              <a:t>08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NLP的"奇葩"难题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歧义 · 常识 · 语境 · 机器最头疼的地方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08 · NLP难题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语言天生就是歧义的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241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86AB"/>
                </a:solidFill>
              </a:rPr>
              <a:t>同一句话，人类靠语境瞬间理解；机器缺少「常识+语境」，容易闹笑话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词汇歧义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069080" cy="859536"/>
          </a:xfrm>
          <a:prstGeom prst="rect">
            <a:avLst/>
          </a:prstGeom>
          <a:solidFill>
            <a:srgbClr val="F8FAF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10512"/>
            <a:ext cx="54864" cy="8595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865376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3A5F"/>
                </a:solidFill>
              </a:rPr>
              <a:t>他挂了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2157984"/>
            <a:ext cx="3877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D4720A"/>
                </a:solidFill>
              </a:rPr>
              <a:t>挂</a:t>
            </a:r>
            <a:r>
              <a:rPr lang="en-US" sz="1100" i="1" dirty="0">
                <a:solidFill>
                  <a:srgbClr val="D4720A"/>
                </a:solidFill>
              </a:rPr>
              <a:t> = </a:t>
            </a:r>
            <a:r>
              <a:rPr lang="zh-CN" altLang="en-US" sz="1100" i="1" dirty="0">
                <a:solidFill>
                  <a:srgbClr val="D4720A"/>
                </a:solidFill>
              </a:rPr>
              <a:t>挂了电话  还是  死了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" y="237744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靠「</a:t>
            </a:r>
            <a:r>
              <a:rPr lang="zh-CN" altLang="en-US" sz="1050" dirty="0">
                <a:solidFill>
                  <a:srgbClr val="666666"/>
                </a:solidFill>
              </a:rPr>
              <a:t>语境</a:t>
            </a:r>
            <a:r>
              <a:rPr lang="en-US" sz="1050" dirty="0">
                <a:solidFill>
                  <a:srgbClr val="666666"/>
                </a:solidFill>
              </a:rPr>
              <a:t>」判断——机器需要上下文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4069080" cy="859536"/>
          </a:xfrm>
          <a:prstGeom prst="rect">
            <a:avLst/>
          </a:prstGeom>
          <a:solidFill>
            <a:srgbClr val="F8FAF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61488"/>
            <a:ext cx="54864" cy="8595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816352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苹果最近很火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" y="3108960"/>
            <a:ext cx="3877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720A"/>
                </a:solidFill>
              </a:rPr>
              <a:t>Apple公司 还是 水果苹果？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" y="3328416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靠「最近很火」判断商业语境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4069080" cy="859536"/>
          </a:xfrm>
          <a:prstGeom prst="rect">
            <a:avLst/>
          </a:prstGeom>
          <a:solidFill>
            <a:srgbClr val="F8FAFB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9" name="Shape 17"/>
          <p:cNvSpPr/>
          <p:nvPr/>
        </p:nvSpPr>
        <p:spPr>
          <a:xfrm>
            <a:off x="365760" y="3712464"/>
            <a:ext cx="54864" cy="8595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767328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E3A5F"/>
                </a:solidFill>
              </a:rPr>
              <a:t>这龙虾看起来真不错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" y="4059936"/>
            <a:ext cx="3877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i="1" dirty="0">
                <a:solidFill>
                  <a:srgbClr val="D4720A"/>
                </a:solidFill>
              </a:rPr>
              <a:t>龙虾指</a:t>
            </a:r>
            <a:r>
              <a:rPr lang="en-US" altLang="zh-CN" sz="1100" i="1" dirty="0" err="1">
                <a:solidFill>
                  <a:srgbClr val="D4720A"/>
                </a:solidFill>
              </a:rPr>
              <a:t>openclaw</a:t>
            </a:r>
            <a:r>
              <a:rPr lang="en-US" altLang="zh-CN" sz="1100" i="1" dirty="0">
                <a:solidFill>
                  <a:srgbClr val="D4720A"/>
                </a:solidFill>
              </a:rPr>
              <a:t>  </a:t>
            </a:r>
            <a:r>
              <a:rPr lang="zh-CN" altLang="en-US" sz="1100" i="1" dirty="0">
                <a:solidFill>
                  <a:srgbClr val="D4720A"/>
                </a:solidFill>
              </a:rPr>
              <a:t>还是 海鲜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" y="427939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rgbClr val="666666"/>
                </a:solidFill>
              </a:rPr>
              <a:t>同样需要语境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426464"/>
            <a:ext cx="27432" cy="34747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463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句法歧义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810512"/>
            <a:ext cx="3977640" cy="129844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9019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</a:rPr>
              <a:t>咬死了猎人的狗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910328" y="2286000"/>
            <a:ext cx="329184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228600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2304288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【咬死了猎人】的 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0328" y="2596896"/>
            <a:ext cx="329184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59689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61518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咬死了【猎人的狗】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218688"/>
            <a:ext cx="3977640" cy="1298448"/>
          </a:xfrm>
          <a:prstGeom prst="rect">
            <a:avLst/>
          </a:prstGeom>
          <a:solidFill>
            <a:srgbClr val="FDECE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3101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D4720A"/>
                </a:solidFill>
              </a:rPr>
              <a:t>乒乓球拍卖完了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910328" y="3694176"/>
            <a:ext cx="329184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369417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71246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/>
              <a:t>乒乓球   拍卖   完了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10328" y="4005072"/>
            <a:ext cx="329184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400507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4023360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2D2D2D"/>
                </a:solidFill>
              </a:rPr>
              <a:t>乒乓球拍    卖完了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7548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人类每天无意识地处理上百个歧义——机器需要「明确的上下文」才能做到</a:t>
            </a:r>
            <a:endParaRPr lang="en-US" sz="110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08 · NLP难题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汉语特有的语言陷阱——机器的噩梦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329184"/>
          </a:xfrm>
          <a:prstGeom prst="rect">
            <a:avLst/>
          </a:prstGeom>
          <a:solidFill>
            <a:srgbClr val="FEF4E8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720A"/>
                </a:solidFill>
              </a:rPr>
              <a:t>汉语无空格分词、同音字多、语序灵活——比英语难很多，也更有趣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096512" cy="1609344"/>
          </a:xfrm>
          <a:prstGeom prst="rect">
            <a:avLst/>
          </a:prstGeom>
          <a:solidFill>
            <a:srgbClr val="FAFA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4096512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572768"/>
            <a:ext cx="3858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</a:rPr>
              <a:t>单身的原因有两个，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</a:rPr>
              <a:t>一是谁都看不上，二是谁都看不上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" y="2322576"/>
            <a:ext cx="3877056" cy="1828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377440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「看不上」= 看不起别人 / 没人看上自己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同一短语，两种截然相反的意思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444752"/>
            <a:ext cx="4096512" cy="1609344"/>
          </a:xfrm>
          <a:prstGeom prst="rect">
            <a:avLst/>
          </a:prstGeom>
          <a:solidFill>
            <a:srgbClr val="FAFA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444752"/>
            <a:ext cx="4096512" cy="7315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1572768"/>
            <a:ext cx="3858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720A"/>
                </a:solidFill>
              </a:rPr>
              <a:t>校长说衣服上除了校徽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D4720A"/>
                </a:solidFill>
              </a:rPr>
              <a:t>别别别的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18888" y="2322576"/>
            <a:ext cx="3877056" cy="1828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2377440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「别」= 别(bié)针 / 别(biē)住 / 别(bié)的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三个字形相同，读音不同，语义不同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4096512" cy="1609344"/>
          </a:xfrm>
          <a:prstGeom prst="rect">
            <a:avLst/>
          </a:prstGeom>
          <a:solidFill>
            <a:srgbClr val="FAFA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63824"/>
            <a:ext cx="409651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291840"/>
            <a:ext cx="3858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</a:rPr>
              <a:t>还好我一把把把把住了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" y="4041648"/>
            <a:ext cx="3877056" cy="1828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4096512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「把」= 量词 / 动词 / 助词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四个连续的「把」字，全部词性不同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3163824"/>
            <a:ext cx="4096512" cy="1609344"/>
          </a:xfrm>
          <a:prstGeom prst="rect">
            <a:avLst/>
          </a:prstGeom>
          <a:solidFill>
            <a:srgbClr val="FAFA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63824"/>
            <a:ext cx="4096512" cy="7315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37176" y="3291840"/>
            <a:ext cx="38587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7B45"/>
                </a:solidFill>
              </a:rPr>
              <a:t>冬天：能穿多少穿多少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17B45"/>
                </a:solidFill>
              </a:rPr>
              <a:t>夏天：能穿多少穿多少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18888" y="4041648"/>
            <a:ext cx="3877056" cy="1828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4096512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完全相同的一句话，在冬天=多穿，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在夏天=少穿，完全依赖语境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791456"/>
            <a:ext cx="841248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80974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中文分词、多义词消解——NLP工程师的日常挑战</a:t>
            </a:r>
            <a:endParaRPr lang="en-US" sz="1100" dirty="0"/>
          </a:p>
        </p:txBody>
      </p:sp>
      <p:sp>
        <p:nvSpPr>
          <p:cNvPr id="29" name="TextBox 2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08 · NLP难题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机器缺乏常识——看似简单的问题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常识推理（机器的盲区）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4475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「把大象装进冰箱」需要几步？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755648"/>
            <a:ext cx="512064" cy="20116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55648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人类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2416" y="173736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人类知道这是个玩笑，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现实中不可能做到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066544"/>
            <a:ext cx="512064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6654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416" y="2048256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早期模型真的回答分三步，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现在的LLM懂幽默了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690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4203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D4720A"/>
                </a:solidFill>
              </a:rPr>
              <a:t>生鱼片</a:t>
            </a:r>
            <a:r>
              <a:rPr lang="en-US" sz="1200" b="1" dirty="0">
                <a:solidFill>
                  <a:srgbClr val="D4720A"/>
                </a:solidFill>
              </a:rPr>
              <a:t> = </a:t>
            </a:r>
            <a:r>
              <a:rPr lang="zh-CN" altLang="en-US" sz="1200" b="1" dirty="0">
                <a:solidFill>
                  <a:srgbClr val="D4720A"/>
                </a:solidFill>
              </a:rPr>
              <a:t>死鱼片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" y="2852928"/>
            <a:ext cx="512064" cy="20116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852928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人类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" y="283464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生→熟前 / 死→捕捞后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完全不同的概念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163824"/>
            <a:ext cx="512064" cy="20116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16382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" y="3145536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语义解析容易混淆「生/死」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的相对性含义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0690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63931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E86AB"/>
                </a:solidFill>
              </a:rPr>
              <a:t>代词消解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" y="3950208"/>
            <a:ext cx="512064" cy="20116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950208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人类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393192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「奖杯放不进手提箱，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因为它太大了」——它=奖杯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" y="4261104"/>
            <a:ext cx="512064" cy="2011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261104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2416" y="4242816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机器长期难以正确判断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「它」指代哪个名词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1005840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0241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720A"/>
                </a:solidFill>
              </a:rPr>
              <a:t>汉语的语义反转陷阱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00600" y="1389888"/>
            <a:ext cx="3977640" cy="475488"/>
          </a:xfrm>
          <a:prstGeom prst="rect">
            <a:avLst/>
          </a:prstGeom>
          <a:solidFill>
            <a:srgbClr val="FEF9EC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444752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大胜敌军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33872" y="1444752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= 大败敌军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1481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→ 都是「我方赢了」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1938528"/>
            <a:ext cx="3977640" cy="475488"/>
          </a:xfrm>
          <a:prstGeom prst="rect">
            <a:avLst/>
          </a:prstGeom>
          <a:solidFill>
            <a:srgbClr val="FAFA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993392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救火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33872" y="1993392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= 灭火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2029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→ 字面意思截然相反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2487168"/>
            <a:ext cx="3977640" cy="475488"/>
          </a:xfrm>
          <a:prstGeom prst="rect">
            <a:avLst/>
          </a:prstGeom>
          <a:solidFill>
            <a:srgbClr val="FEF9EC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542032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生前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33872" y="2542032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= 死前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2578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→ "生"实指人还活着的时候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035808"/>
            <a:ext cx="3977640" cy="475488"/>
          </a:xfrm>
          <a:prstGeom prst="rect">
            <a:avLst/>
          </a:prstGeom>
          <a:solidFill>
            <a:srgbClr val="FAFA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090672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夜店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833872" y="3090672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是喝酒的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58000" y="31272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→ 酒店是过夜的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3584448"/>
            <a:ext cx="3977640" cy="475488"/>
          </a:xfrm>
          <a:prstGeom prst="rect">
            <a:avLst/>
          </a:prstGeom>
          <a:solidFill>
            <a:srgbClr val="FEF9EC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639312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冰箱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833872" y="3639312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是个柜子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58000" y="36758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→ 冰柜是个箱子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00600" y="4133088"/>
            <a:ext cx="3977640" cy="475488"/>
          </a:xfrm>
          <a:prstGeom prst="rect">
            <a:avLst/>
          </a:prstGeom>
          <a:solidFill>
            <a:srgbClr val="FAFA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187952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多活一天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33872" y="4187952"/>
            <a:ext cx="969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= 少活一天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58000" y="42245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→ 时间正向 vs 余命倒计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00600" y="4681728"/>
            <a:ext cx="3977640" cy="29260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470001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汉语博大精深，也让NLP工程师头发渐少</a:t>
            </a:r>
            <a:endParaRPr lang="en-US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2E86AB"/>
                </a:solidFill>
              </a:rPr>
              <a:t>09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AI Coding工具——开发者的新搭档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6126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</a:rPr>
              <a:t>CLI工具 · IDE工具 · 对比与混用策略</a:t>
            </a:r>
            <a:endParaRPr lang="en-US" sz="1500" dirty="0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09 · AI Coding工具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AI编程助手：效率革命正在发生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86AB"/>
                </a:solidFill>
              </a:rPr>
              <a:t>55%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2606040" cy="566928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GitHub调研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使用Copilot的开发者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完成任务速度提升55%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060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7899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86AB"/>
                </a:solidFill>
              </a:rPr>
              <a:t>46%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91840" y="1901952"/>
            <a:ext cx="2606040" cy="566928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9019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代码占比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1214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GitHub新增代码中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Copilot参与比例超46%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060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7899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86AB"/>
                </a:solidFill>
              </a:rPr>
              <a:t>3x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6126480" y="1901952"/>
            <a:ext cx="2606040" cy="566928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9019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效率倍增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1214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复杂任务中AI辅助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可减少3倍重复编码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59689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两类主流AI编程工具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4069080" cy="17556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26080"/>
            <a:ext cx="4069080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260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CLI类（终端原生）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334670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Claude Code · GitHub Copilot CLI · Codex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3657600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适合全工程上下文操作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" y="3968496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执行shell/git/测试等系统命令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" y="427939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自动化脚本、批量重构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4069080" cy="1755648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26080"/>
            <a:ext cx="4069080" cy="36576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9260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IDE类（编辑器集成）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18888" y="334670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2E"/>
                </a:solidFill>
              </a:rPr>
              <a:t>Cursor · Trae · VS Code + Copilot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18888" y="3657600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可视化界面，代码感知强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18888" y="3968496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对话式补全、内联代码生成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18888" y="427939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适合日常编码、调试、重构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773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两类工具不互斥——最佳实践是CLI + IDE协同工作</a:t>
            </a:r>
            <a:endParaRPr lang="en-US" sz="110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09 · AI Coding工具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CLI类工具：Claude Code &amp; GitHub Copilot CLI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6908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 Code（Anthropic）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786384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全工程感知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07008" y="1517904"/>
            <a:ext cx="3182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读取整个代码库上下文，不只看一个文件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786384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66544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自主执行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07008" y="2103120"/>
            <a:ext cx="3182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可以运行命令、修改文件、执行测试、提交git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786384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多步任务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07008" y="2688336"/>
            <a:ext cx="3182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"重构这个模块并跑通测试"一句话搞定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786384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36976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安全审计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07008" y="3273552"/>
            <a:ext cx="3182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可扫描代码漏洞，生成修复建议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895344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典型用法示例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51376"/>
            <a:ext cx="40690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24528"/>
            <a:ext cx="37947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终端直接输入自然语言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"帮我给这个API加上错误处理"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"找出内存泄漏并修复"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"写单元测试覆盖 utils.py"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987552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005840"/>
            <a:ext cx="39776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0584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Copilot CLI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481328"/>
            <a:ext cx="786384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481328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gh suggest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41848" y="1517904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自然语言转git/shell命令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2066544"/>
            <a:ext cx="786384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66544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gh explain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41848" y="2103120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解释当前命令行操作含义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2651760"/>
            <a:ext cx="786384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651760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代码建议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41848" y="268833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在PR中自动提代码改进建议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00600" y="3236976"/>
            <a:ext cx="786384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236976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轻量集成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41848" y="3273552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与GitHub生态无缝衔接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00600" y="389534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典型用法示例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4151376"/>
            <a:ext cx="397764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224528"/>
            <a:ext cx="37033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自然语言转shell命令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 "列出最近7天的提交"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输出: git log --since=7.days --oneline</a:t>
            </a:r>
            <a:endParaRPr lang="en-US" sz="1050" dirty="0"/>
          </a:p>
        </p:txBody>
      </p:sp>
      <p:sp>
        <p:nvSpPr>
          <p:cNvPr id="40" name="TextBox 3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09 · AI Coding工具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IDE类工具：Cursor &amp; Trae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69080" cy="40233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Cursor（最流行的AI IDE）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786384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Composer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07008" y="1499616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多文件同时修改，像AI结对编程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786384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48256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Chat模式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07008" y="2066544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基于当前代码库问答，上下文感知强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786384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15184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Tab补全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07008" y="2633472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预判下一步编辑，比Copilot更智能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786384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8211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模型切换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07008" y="3200400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支持GPT-4/Claude/本地模型随意切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785616"/>
            <a:ext cx="4069080" cy="694944"/>
          </a:xfrm>
          <a:prstGeom prst="rect">
            <a:avLst/>
          </a:prstGeom>
          <a:solidFill>
            <a:srgbClr val="F5EEF8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8221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适合人群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4041648"/>
            <a:ext cx="3858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日常开发为主的工程师，想要可视化对话式AI辅助；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付费版($20/月)功能更完整，免费版够日常使用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987552"/>
            <a:ext cx="27432" cy="393192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005840"/>
            <a:ext cx="3977640" cy="402336"/>
          </a:xfrm>
          <a:prstGeom prst="rect">
            <a:avLst/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0584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Trae（字节跳动出品）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481328"/>
            <a:ext cx="786384" cy="274320"/>
          </a:xfrm>
          <a:prstGeom prst="rect">
            <a:avLst/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481328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免费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41848" y="1499616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目前完全免费，Claude/GPT-4均可用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2048256"/>
            <a:ext cx="786384" cy="274320"/>
          </a:xfrm>
          <a:prstGeom prst="rect">
            <a:avLst/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48256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Builder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41848" y="2066544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可对话生成整个项目脚手架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2615184"/>
            <a:ext cx="786384" cy="274320"/>
          </a:xfrm>
          <a:prstGeom prst="rect">
            <a:avLst/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615184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MCP协议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41848" y="2633472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扩展工具调用，连接外部数据源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00600" y="3182112"/>
            <a:ext cx="786384" cy="274320"/>
          </a:xfrm>
          <a:prstGeom prst="rect">
            <a:avLst/>
          </a:prstGeom>
          <a:solidFill>
            <a:srgbClr val="0A6ED1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182112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中文优化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41848" y="320040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对中文代码注释和提示词支持更好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00600" y="3785616"/>
            <a:ext cx="3977640" cy="694944"/>
          </a:xfrm>
          <a:prstGeom prst="rect">
            <a:avLst/>
          </a:prstGeom>
          <a:solidFill>
            <a:srgbClr val="EBF4FA"/>
          </a:solidFill>
          <a:ln w="12700">
            <a:solidFill>
              <a:srgbClr val="0A6E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38221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6ED1"/>
                </a:solidFill>
              </a:rPr>
              <a:t>适合人群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0328" y="4041648"/>
            <a:ext cx="3767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预算有限或入门开发者；国内网络友好；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想体验Builder模式从零搭项目的同学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553712"/>
            <a:ext cx="8412480" cy="420624"/>
          </a:xfrm>
          <a:prstGeom prst="rect">
            <a:avLst/>
          </a:prstGeom>
          <a:solidFill>
            <a:srgbClr val="F0F4F8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4572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两者都基于VS Code架构，操作习惯几乎一致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熟悉Cursor后切Trae几乎零学习成本</a:t>
            </a:r>
            <a:endParaRPr lang="en-US" sz="1100" dirty="0"/>
          </a:p>
        </p:txBody>
      </p:sp>
      <p:sp>
        <p:nvSpPr>
          <p:cNvPr id="42" name="TextBox 4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09 · AI Coding工具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CLI vs IDE：对比 &amp; 混用策略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60934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05840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维度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29968" y="1005840"/>
            <a:ext cx="1901952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100584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CLI类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(Claude Code)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86784" y="1005840"/>
            <a:ext cx="1901952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005840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IDE类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(Cursor/Trae)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005840"/>
            <a:ext cx="283464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98464" y="100584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何时选哪个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426464"/>
            <a:ext cx="16093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426464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</a:rPr>
              <a:t>使用场景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29968" y="1426464"/>
            <a:ext cx="19019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142646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全工程批量操作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86784" y="1426464"/>
            <a:ext cx="19019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142646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单文件精细编辑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1426464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8464" y="14264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CLI=大范围；IDE=精细活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810512"/>
            <a:ext cx="1609344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1810512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</a:rPr>
              <a:t>上下文感知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29968" y="1810512"/>
            <a:ext cx="1901952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4832" y="1810512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整个代码库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86784" y="1810512"/>
            <a:ext cx="1901952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1810512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当前打开文件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1810512"/>
            <a:ext cx="283464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98464" y="18105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复杂项目用CLI更准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194560"/>
            <a:ext cx="16093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1945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</a:rPr>
              <a:t>交互方式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29968" y="2194560"/>
            <a:ext cx="19019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84832" y="21945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终端命令行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86784" y="2194560"/>
            <a:ext cx="19019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41648" y="2194560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图形界面+对话框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0" y="2194560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98464" y="2194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个人习惯决定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578608"/>
            <a:ext cx="1609344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2578608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</a:rPr>
              <a:t>系统集成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029968" y="2578608"/>
            <a:ext cx="1901952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84832" y="257860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可跑shell/测试/git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986784" y="2578608"/>
            <a:ext cx="1901952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41648" y="2578608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仅编辑器内操作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43600" y="2578608"/>
            <a:ext cx="283464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98464" y="25786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自动化流程选CLI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2962656"/>
            <a:ext cx="16093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2962656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</a:rPr>
              <a:t>学习门槛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029968" y="2962656"/>
            <a:ext cx="19019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84832" y="296265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略高（需熟悉终端）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986784" y="2962656"/>
            <a:ext cx="19019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41648" y="296265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低（图形化）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943600" y="2962656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98464" y="29626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新手从IDE入门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346704"/>
            <a:ext cx="1609344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3346704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</a:rPr>
              <a:t>适合人群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029968" y="3346704"/>
            <a:ext cx="1901952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84832" y="334670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后端/DevOps工程师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986784" y="3346704"/>
            <a:ext cx="1901952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41648" y="334670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</a:rPr>
              <a:t>全栈/前端开发者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943600" y="3346704"/>
            <a:ext cx="283464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98464" y="33467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按工种选择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65760" y="38587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最佳混用工作流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65760" y="4187952"/>
            <a:ext cx="2011680" cy="749808"/>
          </a:xfrm>
          <a:prstGeom prst="rect">
            <a:avLst/>
          </a:prstGeom>
          <a:solidFill>
            <a:srgbClr val="F8FA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4187952"/>
            <a:ext cx="2011680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0624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规划阶段  [CLI]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20624" y="4462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用Claude Code理解整个代码库、生成架构方案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514600" y="4187952"/>
            <a:ext cx="2011680" cy="749808"/>
          </a:xfrm>
          <a:prstGeom prst="rect">
            <a:avLst/>
          </a:prstGeom>
          <a:solidFill>
            <a:srgbClr val="F8FAFB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514600" y="4187952"/>
            <a:ext cx="2011680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9464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编码阶段  [IDE]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569464" y="4462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在Cursor中高效编写、补全、实时调试代码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63440" y="4187952"/>
            <a:ext cx="2011680" cy="749808"/>
          </a:xfrm>
          <a:prstGeom prst="rect">
            <a:avLst/>
          </a:prstGeom>
          <a:solidFill>
            <a:srgbClr val="F8FAFB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63440" y="4187952"/>
            <a:ext cx="2011680" cy="2560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18304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重构阶段  [CLI]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718304" y="4462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用Claude Code批量重构、跑测试、一键提交PR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812280" y="4187952"/>
            <a:ext cx="2011680" cy="749808"/>
          </a:xfrm>
          <a:prstGeom prst="rect">
            <a:avLst/>
          </a:prstGeom>
          <a:solidFill>
            <a:srgbClr val="F8FAFB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12280" y="4187952"/>
            <a:ext cx="2011680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67144" y="4187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  [两者]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867144" y="44622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IDE看具体改动，CLI批量扫描潜在问题</a:t>
            </a:r>
            <a:endParaRPr lang="en-US" sz="1000" dirty="0"/>
          </a:p>
        </p:txBody>
      </p:sp>
      <p:sp>
        <p:nvSpPr>
          <p:cNvPr id="78" name="TextBox 7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AB"/>
                </a:solidFill>
              </a:rPr>
              <a:t>Part 10 · 结语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</a:rPr>
              <a:t>今天我们聊了什么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265176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457200" cy="6949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07899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走进AI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37160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AI/ML/DL关系 · 六大研究方向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65176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24128"/>
            <a:ext cx="457200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24128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30752" y="107899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AI历史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30752" y="137160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两次寒冬 · 深度学习爆发 · LLM时代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24128"/>
            <a:ext cx="265176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24128"/>
            <a:ext cx="457200" cy="69494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024128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65392" y="107899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三大支柱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65392" y="137160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算力 · 数据 · 算法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828800"/>
            <a:ext cx="265176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828800"/>
            <a:ext cx="457200" cy="69494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82880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1883664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岗位与团队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217627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算法/工程岗 · AI项目协作链路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1828800"/>
            <a:ext cx="265176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1828800"/>
            <a:ext cx="457200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182880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30752" y="1883664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行业现状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30752" y="217627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大厂vs小厂 · AI会淘汰程序员吗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828800"/>
            <a:ext cx="265176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828800"/>
            <a:ext cx="457200" cy="69494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82880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65392" y="1883664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</a:rPr>
              <a:t>成为AI工程师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65392" y="217627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五大能力 · 学习路线 · 资源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633472"/>
            <a:ext cx="265176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633472"/>
            <a:ext cx="457200" cy="6949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633472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6112" y="268833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NLP基础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6112" y="2980944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任务场景 · 技术演进 · TF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2633472"/>
            <a:ext cx="265176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2633472"/>
            <a:ext cx="457200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2633472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730752" y="268833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NLP难题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730752" y="2980944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歧义 · 常识 · 汉语陷阱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2633472"/>
            <a:ext cx="265176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0" y="2633472"/>
            <a:ext cx="457200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633472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65392" y="2688336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AI Coding工具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65392" y="2980944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 vs IDE · 混用策略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572000"/>
            <a:ext cx="841248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45902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从「什么是AI」到「如何成为AI工程师」——希望今天打开了一扇门</a:t>
            </a:r>
            <a:endParaRPr lang="en-US" sz="1300" dirty="0"/>
          </a:p>
        </p:txBody>
      </p:sp>
      <p:sp>
        <p:nvSpPr>
          <p:cNvPr id="52" name="TextBox 5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43984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7EC8E3"/>
                </a:solidFill>
              </a:rPr>
              <a:t>Q &amp; A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有什么问题？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3090672"/>
            <a:ext cx="411480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0040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欢迎就今天的内容提问 · 也欢迎课后继续交流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2834640"/>
            <a:ext cx="2926080" cy="1517904"/>
          </a:xfrm>
          <a:prstGeom prst="rect">
            <a:avLst/>
          </a:prstGeom>
          <a:solidFill>
            <a:srgbClr val="162D4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907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课后资源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2186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 HuggingFace.co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493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 李沐动手学深度学习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3767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 Papers with Code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40416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 Andrew Ng / Coursera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7673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AB"/>
                </a:solidFill>
              </a:rPr>
              <a:t>感谢参与！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3189</Words>
  <Application>Microsoft Office PowerPoint</Application>
  <PresentationFormat>全屏显示(16:9)</PresentationFormat>
  <Paragraphs>1147</Paragraphs>
  <Slides>44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7" baseType="lpstr"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zimo Yin</cp:lastModifiedBy>
  <cp:revision>10</cp:revision>
  <dcterms:created xsi:type="dcterms:W3CDTF">2026-04-10T08:17:18Z</dcterms:created>
  <dcterms:modified xsi:type="dcterms:W3CDTF">2026-04-12T05:46:02Z</dcterms:modified>
</cp:coreProperties>
</file>